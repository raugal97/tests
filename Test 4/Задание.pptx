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63" r:id="rId3"/>
    <p:sldId id="262" r:id="rId4"/>
    <p:sldId id="26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7"/>
    <p:restoredTop sz="94687"/>
  </p:normalViewPr>
  <p:slideViewPr>
    <p:cSldViewPr snapToGrid="0" snapToObjects="1">
      <p:cViewPr varScale="1">
        <p:scale>
          <a:sx n="104" d="100"/>
          <a:sy n="104" d="100"/>
        </p:scale>
        <p:origin x="12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507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A9E9E-3E0C-0B43-AB53-AB323AB63CD2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DE192-DC16-EB43-9144-9B5B6666D1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720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B511E-8952-704E-951B-5DEA57E67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893331B-B298-5441-9FE0-FCE61BBD2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A3F497-1436-A440-A301-EE2A1810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333C81-E6C3-4143-AEF0-7B93269DA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4E3453-CEC7-234E-9DCF-B59C90D0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47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449BB-B611-CF49-905A-CF0083428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311C02-933F-B747-95DA-E35133656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10E9A0-FE00-2F4A-871B-550DFCB7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8C7A75-E1EF-664C-8E95-5546E8775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34D77D-DE97-AC4C-997B-E533A5C6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645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10803-013C-0344-BE8E-DAAA6363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970297-5C73-9942-96EF-61C2BD08E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6CE09E-DFD3-FF4B-B61F-70E81889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B4E6E9-3DCF-1A45-A5FD-3504C553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2B39D-7E73-774C-A78A-286CE9BA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33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66186-9238-1744-9282-5D7A9D522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AAA11E-A183-2446-80DA-7D3F15CE54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53B2FB-6B6E-FC41-AED3-8F961E2A3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2B03F96-4BCC-3C4E-A00D-1CE7A9DE3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1E0B58-910E-3E42-A0AD-2736740A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90C7FD-7A37-4E45-B814-BC6B479B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617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A924AB-D045-F948-AA02-F7E59743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4F7C74-D722-AB4E-8099-C37CF030E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5C567A-E5B9-3741-AECB-7D084E77A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AB91EB-64F3-9345-8011-9E4636A23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C3B312-8236-AC4D-934D-6D15167DE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A30FB9C-1F66-9649-972C-AF8729A4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762455-2379-1548-9555-8948696E4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CC32D2-0574-414E-B7E2-E54F4CCC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725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269D1B-DED9-1E4D-80AE-490586E4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7DFACA-3FFA-B047-A97D-1BB0FC41E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E3C2FA-5C5B-3B4C-8449-C461362A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5EA33F-8ED5-4A45-9340-0481FA4D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55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49ABA3A-6915-B743-B98B-7B4A1A44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4FF7BF-925F-F642-A0BD-287FA975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034DA6-C4F2-1A4D-A1E8-2A9298ED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921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39FEC-FBF3-DE4F-BE06-D53700F3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7288F5-6737-614D-B46F-3B96640A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29C9E8-16BC-3B4C-873C-28BC6D1A4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8B3401-55A2-F147-9816-22F842D0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95F7B8-AFAD-BF44-BF50-C4BEE810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5F5807-B534-9F45-9CE2-4042EF96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098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10C4A-368A-8045-967C-9D29027A4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B8C7CE5-1962-264F-8576-B059B80988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329301-3CE6-A746-A12B-D66BE136D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42EE41-64A6-544A-8756-7D96B7C7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7BA54A5-EEE1-E04C-B15D-CC3381C1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5DFD42-DF21-594B-BE9D-6EA26A06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83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59017-45A0-4A42-9655-72CD4DA2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D86B82-AE75-144E-9BA5-E57EACD98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C1251-AB3F-1347-AC9D-25F7614CE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635E0A-575D-E94B-AD61-5AD6A51E3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E89A7D-9588-5744-AF74-45AB6BA1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386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DD1CA06-E954-8D43-A0F4-1A169F7F28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EE7185-2778-014C-8130-0366D4758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1BDBB-C4FA-8C4B-A2D4-7202F3B3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804AFB-242B-B447-A2B8-6C008CFD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6A487-DAF3-8F43-B7CC-A7C665CC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2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558E9-6E8C-2F44-96B0-DCC3610EA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A80EFC0-6CBD-0C49-8095-6448C6C6C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49460C-9ED4-CA41-B781-2C545693E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A86BB-9D5A-A848-8F61-257F312CAAED}" type="datetimeFigureOut">
              <a:rPr lang="ru-RU" smtClean="0"/>
              <a:t>08.04.2021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5CDF4F-4571-E241-929D-4B2FB1812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037D47-EBE4-324E-BB05-7C2303CF5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57A18-B6A6-754A-A149-213FD91D04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68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15E83-26EE-E849-AB67-6E3884FDB0ED}"/>
              </a:ext>
            </a:extLst>
          </p:cNvPr>
          <p:cNvSpPr txBox="1"/>
          <p:nvPr/>
        </p:nvSpPr>
        <p:spPr>
          <a:xfrm>
            <a:off x="468847" y="187441"/>
            <a:ext cx="11231190" cy="92823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ru-RU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Тестов</a:t>
            </a:r>
            <a:r>
              <a:rPr lang="ru-RU" altLang="ru-RU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ы</a:t>
            </a:r>
            <a:r>
              <a:rPr lang="en-US" altLang="ru-RU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е</a:t>
            </a:r>
            <a:r>
              <a:rPr lang="en-US" altLang="ru-RU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altLang="ru-RU" sz="52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задани</a:t>
            </a:r>
            <a:r>
              <a:rPr lang="ru-RU" altLang="ru-RU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я</a:t>
            </a:r>
            <a:endParaRPr lang="en-US" altLang="ru-RU" sz="52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599D23F-6D5A-43E7-A10E-EC6000869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846" y="2231348"/>
            <a:ext cx="1289051" cy="12890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2A252E1D-64A8-4820-A4D4-B2DCDCD37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11ADB3-89DC-A344-A5AC-005886AD5AB5}"/>
              </a:ext>
            </a:extLst>
          </p:cNvPr>
          <p:cNvSpPr txBox="1"/>
          <p:nvPr/>
        </p:nvSpPr>
        <p:spPr>
          <a:xfrm>
            <a:off x="1914898" y="2707409"/>
            <a:ext cx="8737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2. Что не так на визуализациях?  Что бы Вы изменили в них?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6277BA-4FF7-BF49-B329-95D7C3DDE6C1}"/>
              </a:ext>
            </a:extLst>
          </p:cNvPr>
          <p:cNvSpPr txBox="1"/>
          <p:nvPr/>
        </p:nvSpPr>
        <p:spPr>
          <a:xfrm>
            <a:off x="1914898" y="2129976"/>
            <a:ext cx="765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1. Решите задачу на знание </a:t>
            </a:r>
            <a:r>
              <a:rPr lang="en-US" dirty="0"/>
              <a:t>SQL</a:t>
            </a:r>
            <a:r>
              <a:rPr lang="ru-RU" dirty="0"/>
              <a:t>. Вариантов решения может быть несколько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7075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0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8A9C06-28A6-3647-BD9A-2CCC3BB9846D}"/>
              </a:ext>
            </a:extLst>
          </p:cNvPr>
          <p:cNvSpPr txBox="1"/>
          <p:nvPr/>
        </p:nvSpPr>
        <p:spPr>
          <a:xfrm>
            <a:off x="767860" y="-177137"/>
            <a:ext cx="10515599" cy="12962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200" b="1"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Задание 1 - </a:t>
            </a:r>
            <a:r>
              <a:rPr lang="en-US" altLang="ru-RU" dirty="0"/>
              <a:t>SQL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4DFB0D-D0FD-D64E-A649-6205CC413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7100" y="2238301"/>
            <a:ext cx="184731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ru-RU" altLang="ru-RU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5FC7667-91C1-504D-AE15-B49257751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6764"/>
              </p:ext>
            </p:extLst>
          </p:nvPr>
        </p:nvGraphicFramePr>
        <p:xfrm>
          <a:off x="1097761" y="1556170"/>
          <a:ext cx="9658728" cy="3364810"/>
        </p:xfrm>
        <a:graphic>
          <a:graphicData uri="http://schemas.openxmlformats.org/drawingml/2006/table">
            <a:tbl>
              <a:tblPr firstRow="1" bandRow="1"/>
              <a:tblGrid>
                <a:gridCol w="1703564">
                  <a:extLst>
                    <a:ext uri="{9D8B030D-6E8A-4147-A177-3AD203B41FA5}">
                      <a16:colId xmlns:a16="http://schemas.microsoft.com/office/drawing/2014/main" val="3360128719"/>
                    </a:ext>
                  </a:extLst>
                </a:gridCol>
                <a:gridCol w="1353218">
                  <a:extLst>
                    <a:ext uri="{9D8B030D-6E8A-4147-A177-3AD203B41FA5}">
                      <a16:colId xmlns:a16="http://schemas.microsoft.com/office/drawing/2014/main" val="3713668090"/>
                    </a:ext>
                  </a:extLst>
                </a:gridCol>
                <a:gridCol w="1700356">
                  <a:extLst>
                    <a:ext uri="{9D8B030D-6E8A-4147-A177-3AD203B41FA5}">
                      <a16:colId xmlns:a16="http://schemas.microsoft.com/office/drawing/2014/main" val="1670979905"/>
                    </a:ext>
                  </a:extLst>
                </a:gridCol>
                <a:gridCol w="1307752">
                  <a:extLst>
                    <a:ext uri="{9D8B030D-6E8A-4147-A177-3AD203B41FA5}">
                      <a16:colId xmlns:a16="http://schemas.microsoft.com/office/drawing/2014/main" val="2447815590"/>
                    </a:ext>
                  </a:extLst>
                </a:gridCol>
                <a:gridCol w="3593838">
                  <a:extLst>
                    <a:ext uri="{9D8B030D-6E8A-4147-A177-3AD203B41FA5}">
                      <a16:colId xmlns:a16="http://schemas.microsoft.com/office/drawing/2014/main" val="1955989127"/>
                    </a:ext>
                  </a:extLst>
                </a:gridCol>
              </a:tblGrid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Дата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Клиент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Продукт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Сумма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Обновлено</a:t>
                      </a:r>
                      <a:endParaRPr lang="ru-RU" sz="1800" dirty="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151303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Вася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iphone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01.01.2019 10:00:00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6489613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Вася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airpods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01.01.2019 10:01:00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119948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02.02.2019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Петя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iphone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02.01.2019 10:00:00</a:t>
                      </a:r>
                      <a:endParaRPr lang="ru-RU" sz="1800" dirty="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72392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02.02.2019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Петя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macbook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02.01.2019 10:01:00</a:t>
                      </a:r>
                      <a:endParaRPr lang="ru-RU" sz="1800" dirty="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0834516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01.03.2019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Коля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airpods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01.03.2019 12:01:00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122833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11.03.2019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Толя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airpods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11.03.2019 12:31:00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5917954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02.05.2019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Яна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iphone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02.05.2019 10:00:00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729945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01.01.2109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Вася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iphone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01.01.2019 10:01:00</a:t>
                      </a:r>
                      <a:endParaRPr lang="ru-RU" sz="1800" dirty="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817426"/>
                  </a:ext>
                </a:extLst>
              </a:tr>
              <a:tr h="33648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02.05.2019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Яна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iphone</a:t>
                      </a:r>
                      <a:endParaRPr lang="en-US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53000</a:t>
                      </a:r>
                      <a:endParaRPr lang="ru-RU" sz="180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02.05.2019 10:00:00</a:t>
                      </a:r>
                      <a:endParaRPr lang="ru-RU" sz="1800" dirty="0">
                        <a:effectLst/>
                      </a:endParaRPr>
                    </a:p>
                  </a:txBody>
                  <a:tcPr marL="64509" marR="64509" marT="64509" marB="6450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9652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4185AC-F69D-B443-A111-245E32DF45D8}"/>
              </a:ext>
            </a:extLst>
          </p:cNvPr>
          <p:cNvSpPr txBox="1"/>
          <p:nvPr/>
        </p:nvSpPr>
        <p:spPr>
          <a:xfrm>
            <a:off x="1097761" y="1111621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Таблица Клиенты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0A0598-14CA-E947-A664-E27EECEBFD70}"/>
              </a:ext>
            </a:extLst>
          </p:cNvPr>
          <p:cNvSpPr txBox="1"/>
          <p:nvPr/>
        </p:nvSpPr>
        <p:spPr>
          <a:xfrm>
            <a:off x="1097761" y="5098117"/>
            <a:ext cx="99934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Задание:</a:t>
            </a:r>
            <a:endParaRPr lang="ru-RU" sz="1600" b="1" dirty="0"/>
          </a:p>
          <a:p>
            <a:r>
              <a:rPr lang="ru-RU" sz="1600" dirty="0"/>
              <a:t>Каждый клиент может купить любой продукт любое кол-во раз. Предположим нам нужно найти всех клиентов, которые купили </a:t>
            </a:r>
            <a:r>
              <a:rPr lang="en-US" sz="1600" b="1" dirty="0" err="1"/>
              <a:t>iphone</a:t>
            </a:r>
            <a:r>
              <a:rPr lang="en-US" sz="1600" dirty="0"/>
              <a:t> </a:t>
            </a:r>
            <a:r>
              <a:rPr lang="ru-RU" sz="1600" dirty="0"/>
              <a:t>и еще не покупали </a:t>
            </a:r>
            <a:r>
              <a:rPr lang="en-US" sz="1600" b="1" dirty="0" err="1"/>
              <a:t>airpods</a:t>
            </a:r>
            <a:r>
              <a:rPr lang="en-US" sz="1600" dirty="0"/>
              <a:t>. </a:t>
            </a:r>
            <a:r>
              <a:rPr lang="ru-RU" sz="1600" dirty="0"/>
              <a:t>Например, мы хотим предложить покупателям </a:t>
            </a:r>
            <a:r>
              <a:rPr lang="en-US" sz="1600" b="1" dirty="0" err="1"/>
              <a:t>iphone</a:t>
            </a:r>
            <a:r>
              <a:rPr lang="en-US" sz="1600" dirty="0"/>
              <a:t>  </a:t>
            </a:r>
            <a:r>
              <a:rPr lang="ru-RU" sz="1600" dirty="0"/>
              <a:t>приобрести </a:t>
            </a:r>
            <a:r>
              <a:rPr lang="en-US" sz="1600" b="1" dirty="0" err="1"/>
              <a:t>airpods</a:t>
            </a:r>
            <a:r>
              <a:rPr lang="en-US" sz="1600" dirty="0"/>
              <a:t> </a:t>
            </a:r>
            <a:r>
              <a:rPr lang="ru-RU" sz="1600" dirty="0"/>
              <a:t>в дополнение к их покупке.</a:t>
            </a:r>
          </a:p>
        </p:txBody>
      </p:sp>
    </p:spTree>
    <p:extLst>
      <p:ext uri="{BB962C8B-B14F-4D97-AF65-F5344CB8AC3E}">
        <p14:creationId xmlns:p14="http://schemas.microsoft.com/office/powerpoint/2010/main" val="193288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age2image31197632">
            <a:extLst>
              <a:ext uri="{FF2B5EF4-FFF2-40B4-BE49-F238E27FC236}">
                <a16:creationId xmlns:a16="http://schemas.microsoft.com/office/drawing/2014/main" id="{30B91151-D2BC-C74E-9960-585CFF29C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57" y="1771661"/>
            <a:ext cx="8103683" cy="48290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666B01-6D9D-C74B-886A-607730AF19A8}"/>
              </a:ext>
            </a:extLst>
          </p:cNvPr>
          <p:cNvSpPr txBox="1"/>
          <p:nvPr/>
        </p:nvSpPr>
        <p:spPr>
          <a:xfrm>
            <a:off x="4342410" y="1257970"/>
            <a:ext cx="350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 не так на визуализации №1 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C217A-8214-0444-8A3E-0550369744CD}"/>
              </a:ext>
            </a:extLst>
          </p:cNvPr>
          <p:cNvSpPr txBox="1"/>
          <p:nvPr/>
        </p:nvSpPr>
        <p:spPr>
          <a:xfrm>
            <a:off x="838198" y="0"/>
            <a:ext cx="10515599" cy="9323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200" b="1"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Задание </a:t>
            </a:r>
            <a:r>
              <a:rPr lang="en-US" altLang="ru-RU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- </a:t>
            </a:r>
            <a:r>
              <a:rPr lang="ru-RU" altLang="ru-RU" dirty="0"/>
              <a:t>визуализация</a:t>
            </a:r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360773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Picture 1" descr="page2image31195968">
            <a:extLst>
              <a:ext uri="{FF2B5EF4-FFF2-40B4-BE49-F238E27FC236}">
                <a16:creationId xmlns:a16="http://schemas.microsoft.com/office/drawing/2014/main" id="{A2393E2D-6C49-3440-B9F5-2ED11E4B3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121" y="1537643"/>
            <a:ext cx="6921758" cy="5123241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B6074E-F275-EE4E-B6FA-3B90B7CF3258}"/>
              </a:ext>
            </a:extLst>
          </p:cNvPr>
          <p:cNvSpPr txBox="1"/>
          <p:nvPr/>
        </p:nvSpPr>
        <p:spPr>
          <a:xfrm>
            <a:off x="838200" y="17937"/>
            <a:ext cx="10515599" cy="9323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200" b="1">
                <a:latin typeface="+mj-lt"/>
                <a:ea typeface="+mj-ea"/>
                <a:cs typeface="+mj-cs"/>
              </a:defRPr>
            </a:lvl1pPr>
          </a:lstStyle>
          <a:p>
            <a:r>
              <a:rPr lang="ru-RU" altLang="ru-RU" dirty="0"/>
              <a:t>Задание </a:t>
            </a:r>
            <a:r>
              <a:rPr lang="en-US" altLang="ru-RU" dirty="0"/>
              <a:t>2</a:t>
            </a:r>
            <a:r>
              <a:rPr lang="ru-RU" altLang="ru-RU" dirty="0"/>
              <a:t> </a:t>
            </a:r>
            <a:r>
              <a:rPr lang="en-US" altLang="ru-RU" dirty="0"/>
              <a:t>- </a:t>
            </a:r>
            <a:r>
              <a:rPr lang="ru-RU" altLang="ru-RU" dirty="0"/>
              <a:t>визуализация</a:t>
            </a:r>
            <a:endParaRPr lang="en-US" alt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3B04C-6940-1C4A-AD24-C751C73B3AE7}"/>
              </a:ext>
            </a:extLst>
          </p:cNvPr>
          <p:cNvSpPr txBox="1"/>
          <p:nvPr/>
        </p:nvSpPr>
        <p:spPr>
          <a:xfrm>
            <a:off x="4213076" y="1050324"/>
            <a:ext cx="350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Что не так на визуализации №2 ? </a:t>
            </a:r>
          </a:p>
        </p:txBody>
      </p:sp>
    </p:spTree>
    <p:extLst>
      <p:ext uri="{BB962C8B-B14F-4D97-AF65-F5344CB8AC3E}">
        <p14:creationId xmlns:p14="http://schemas.microsoft.com/office/powerpoint/2010/main" val="14125019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166</Words>
  <Application>Microsoft Macintosh PowerPoint</Application>
  <PresentationFormat>Широкоэкранный</PresentationFormat>
  <Paragraphs>62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Analytic Analytic</dc:creator>
  <cp:lastModifiedBy>Айгуль Сулейманова</cp:lastModifiedBy>
  <cp:revision>3</cp:revision>
  <dcterms:created xsi:type="dcterms:W3CDTF">2020-07-16T10:32:07Z</dcterms:created>
  <dcterms:modified xsi:type="dcterms:W3CDTF">2021-04-08T15:07:40Z</dcterms:modified>
</cp:coreProperties>
</file>